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verage"/>
      <p:regular r:id="rId21"/>
    </p:embeddedFont>
    <p:embeddedFont>
      <p:font typeface="Oswald"/>
      <p:regular r:id="rId22"/>
      <p:bold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swald-regular.fntdata"/><Relationship Id="rId21" Type="http://schemas.openxmlformats.org/officeDocument/2006/relationships/font" Target="fonts/Average-regular.fntdata"/><Relationship Id="rId24" Type="http://schemas.openxmlformats.org/officeDocument/2006/relationships/font" Target="fonts/RobotoMono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4265451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426545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4265451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4265451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84265451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84265451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4265451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4265451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4265451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84265451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84265451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84265451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84265451d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84265451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4265451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84265451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4265451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4265451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4265451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84265451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84265451d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84265451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84265451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84265451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84265451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84265451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4265451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4265451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pdf/2407.1892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821800"/>
            <a:ext cx="8520600" cy="14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CM-IDO Firewall: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Context-Masked Iterative Defensive Optimization for Safe LLM Deployment</a:t>
            </a:r>
            <a:endParaRPr sz="2000"/>
          </a:p>
        </p:txBody>
      </p:sp>
      <p:sp>
        <p:nvSpPr>
          <p:cNvPr id="60" name="Google Shape;60;p13"/>
          <p:cNvSpPr txBox="1"/>
          <p:nvPr/>
        </p:nvSpPr>
        <p:spPr>
          <a:xfrm>
            <a:off x="3072000" y="37356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Author: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Sayash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Arcadia Impact Fellow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NeurIPS 2025, Fidelity Investments,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IIT Madras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Overview: AI Threats Are Scaling Faster Than Defenses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threat landscape: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LLMs drastically lower the barrier to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misuse.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vague malicious intent can be refined into harmful steps by general-purpose models.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infrastructure (hospitals, emergency response, enterprise systems) is already vulnerable.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safety layers are inadequate: most LLM deployments rely purely on provider policies.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core danger: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Low-skill actors + powerful LLMs + unsafe interfaces = catastrophic amplification.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urgently need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defensive acceleration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safety mechanisms that scale as fast as AI’s capabilities.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Alignment With DEF/ACC Theme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Hackathon goal: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systems that protect society from AI-enabled threats in: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Biosecurity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Cybersecurity / critical infrastructure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Disinformation &amp; coordination risks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control, monitoring, layered defense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CM-IDO contributes directly by: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Blocking unsafe queries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they reach the model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Converting harmful intent into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defensive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resilience-oriented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queries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a “trusted model supervising an untrusted model” architecture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Being instantly deployable by any organization (no fine-tuning required)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b="1"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defensive acceleration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27925" y="1525500"/>
            <a:ext cx="3621000" cy="2092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LLMs can unintentionally assist: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 exploits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Biological reasoning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Infrastructure disruption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engineering at scale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Many harmful queries are not obviously harmful.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Even well-intentioned users ask dual-use questions.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Motivation: What Makes This Problem Dangerous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5269425" y="1152475"/>
            <a:ext cx="3341700" cy="31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3. Organizations often expose LLMs directly to internal systems.</a:t>
            </a:r>
            <a:br>
              <a:rPr b="1" lang="en-GB" sz="1100"/>
            </a:br>
            <a:r>
              <a:rPr lang="en-GB" sz="1100"/>
              <a:t> Without a safety firewall, the LLM can: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Leak internal architecture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Produce harmful code suggestions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Reveal vulnerabilities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Provide high-level biological insights with dangerous implications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/>
              <a:t>4. Safety mechanisms must be adoptable today.</a:t>
            </a:r>
            <a:br>
              <a:rPr b="1" lang="en-GB" sz="1100"/>
            </a:br>
            <a:r>
              <a:rPr lang="en-GB" sz="1100"/>
              <a:t> No heavy training. No safety research team needed.</a:t>
            </a:r>
            <a:br>
              <a:rPr lang="en-GB" sz="1100"/>
            </a:br>
            <a:r>
              <a:rPr lang="en-GB" sz="1100"/>
              <a:t> We solve this by wrapping any LLM with a </a:t>
            </a:r>
            <a:r>
              <a:rPr b="1" lang="en-GB" sz="1100"/>
              <a:t>safety-first transformation layer</a:t>
            </a:r>
            <a:r>
              <a:rPr lang="en-GB" sz="1100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Context-Masked Meta-Prompting for Privacy-Preserving LLM Adaptation in Finance</a:t>
            </a:r>
            <a:endParaRPr b="1" sz="1100">
              <a:solidFill>
                <a:srgbClr val="6D9E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Accepted at NeurIPS 2025</a:t>
            </a:r>
            <a:endParaRPr b="1"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contributions of the paper: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 sensitive context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internal evaluator to iteratively optimize prompts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external LLM “blind” to private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Achieve high performance without direct exposure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CM-IDO adapts it: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optimization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safety optimization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privacy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bio/cyber safety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the same architecture to defend LLM systems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iterative prompt generation to minimize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residual risk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NeurIPS-validated research method repurposed for AI safety and defense.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Basis: My NeurIPS 2025 Paper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3495000" cy="3416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CM-IDO = Context-Masked Iterative Defensive Optimization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four-stage safety pipeline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Classification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Detects bio, cyber, disinfo, other misuse axes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Outputs structured JSON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Conservative by design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Masking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pathogen names, system identifiers, code payloads, credentials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Replaces them with structured placeholders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 never sees sensitive details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Introducing CM-IDO Firewall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5501900" y="1017725"/>
            <a:ext cx="3000000" cy="381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Iterative Defensive Optimization (CM-IDO)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Generates multiple defensive rewrites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Scores them with an internal evaluator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Selects the rewrite with </a:t>
            </a:r>
            <a:r>
              <a:rPr i="1" lang="en-GB" sz="1100"/>
              <a:t>lowest residual risk</a:t>
            </a:r>
            <a:br>
              <a:rPr i="1" lang="en-GB" sz="1100"/>
            </a:br>
            <a:endParaRPr i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Safe Task Execution</a:t>
            </a:r>
            <a:br>
              <a:rPr b="1" lang="en-GB" sz="1100"/>
            </a:br>
            <a:endParaRPr b="1"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Only the safe rewrite is sent to the underlying model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Final output is high-level, protective, and safe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/>
              <a:t>Zero model training. Zero infrastructure friction.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7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 Diagram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803975" y="648975"/>
            <a:ext cx="3000000" cy="4032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User Query (raw)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[1] Risk Classifier (trusted)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Risk JSON (bio/cyber/disinfo)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[2] Context Masker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Masked Query (no sensitive entities)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[3] CM-IDO Defensive Optimizer (trusted)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Safer Rewrite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[4] Task Model (untrusted)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│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       ▼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Safe Response</a:t>
            </a:r>
            <a:endParaRPr sz="1000"/>
          </a:p>
        </p:txBody>
      </p:sp>
      <p:sp>
        <p:nvSpPr>
          <p:cNvPr id="99" name="Google Shape;99;p19"/>
          <p:cNvSpPr txBox="1"/>
          <p:nvPr/>
        </p:nvSpPr>
        <p:spPr>
          <a:xfrm>
            <a:off x="5685925" y="1928400"/>
            <a:ext cx="2625000" cy="128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Core principle: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100"/>
              <a:t>The untrusted model </a:t>
            </a:r>
            <a:r>
              <a:rPr b="1" i="1" lang="en-GB" sz="1100"/>
              <a:t>never</a:t>
            </a:r>
            <a:r>
              <a:rPr i="1" lang="en-GB" sz="1100"/>
              <a:t> sees raw inputs.</a:t>
            </a:r>
            <a:br>
              <a:rPr i="1" lang="en-GB" sz="1100"/>
            </a:br>
            <a:r>
              <a:rPr i="1" lang="en-GB" sz="1100"/>
              <a:t> Only safe, abstract, defensive prompts reach it.</a:t>
            </a:r>
            <a:endParaRPr i="1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Scenario: Critical Infrastructure (Hospital Triage)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7340700" cy="352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User’s risky query: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“How could someone exploit a hospital’s online triage system to cause disruption?”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Firewall output: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Cyber “medium”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Masked: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“How could someone misuse a hospital’s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[SYSTEM]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?”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rewrite: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“Describe high-level failure modes in critical healthcare IT and monitoring strategies.”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safe response: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availability risks, load monitoring, access control policies, resilience planning.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ZERO exploit or attack details.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Protects hospital infrastructure while still supporting defensive security teams.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Scenario: Disinformation &amp; Social Engineering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7340700" cy="352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User’s query: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“Generate realistic phishing emails written with AI.”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CM-IDO rewrite: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“Describe how to design an employee awareness and reporting program for AI-assisted phishing.”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result: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the defender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Prevents generation of phishing templates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Preserves organizational security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Avoids lowering the barrier for novices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CM-IDO Works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7340700" cy="352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Converts dangerous intent into safe intent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Transforms harmful requests into defensive, resilience-focused queries.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Ensures least-privilege for LLMs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model sees only sanitized, safety-optimized inputs.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Auditable &amp; governance-ready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Logs masked queries + risk scores + rewrite rationales, but never raw user content.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Built on peer-reviewed foundations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NeurIPS 2024 acceptance demonstrates rigorous, vetted methodology.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Instantly deployable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Compatible with any API model: OpenAI, Anthropic, Google, local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Matches DEF/ACC’s core thesis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Build defenses faster than offense can exploit AI.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That Enable Real-World Impact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7340700" cy="352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Cross-domain risk detection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Bio + Cyber + Coordination + Other misuse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 masking guarantees privacy and safety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Iterative defensive rewriting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generalizable technique that improves with model advances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Drop-in architecture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Integrates with enterprise LLM gateways, SOC dashboards, or chatbots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Configurable “strictness mode”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Adjustable threshold depending on organizational risk appetite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 raw prompt storage</a:t>
            </a:r>
            <a:b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hashing + masked logging for compliance (HIPAA, GDPR, etc.)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129" name="Google Shape;129;p24"/>
          <p:cNvSpPr txBox="1"/>
          <p:nvPr/>
        </p:nvSpPr>
        <p:spPr>
          <a:xfrm>
            <a:off x="4467175" y="1092900"/>
            <a:ext cx="4541100" cy="295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Live demonstration flow: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Enter a risky or ambiguous query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Watch the system:</a:t>
            </a:r>
            <a:endParaRPr sz="1100"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classify → mask → optimize → rewrite → answer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Show audit log (only masked + hashed data)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Show the final safe, high-level response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Explain how the NeurIPS-style method powers the safety layer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/>
              <a:t>Outcome: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dangerous prompts never reach the model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the system provides useful defensive insight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the solution is deployable today</a:t>
            </a:r>
            <a:br>
              <a:rPr lang="en-GB" sz="1100"/>
            </a:br>
            <a:endParaRPr sz="1100"/>
          </a:p>
        </p:txBody>
      </p:sp>
      <p:pic>
        <p:nvPicPr>
          <p:cNvPr id="130" name="Google Shape;130;p24" title="Screenshot 2025-11-22 at 4.27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25" y="1080325"/>
            <a:ext cx="3986399" cy="2982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Limitations &amp; Responsible Use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6439800" cy="2373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Masking layer may not catch extremely obscure sensitive terms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may misclassify borderline cases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High-level safety does not replace full red-team evaluation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be paired with organizational security policies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periodic updating as threat patterns evolve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6439800" cy="2373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with SIEM platforms for cyber operations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policy-based safety modules (bio, cyber, compliance)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Multi-model oversight with cross-voting architectures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thresholds based on real-time threat intel</a:t>
            </a:r>
            <a:b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with offline red-teaming datasets for robust evaluation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6478500" cy="2625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CM-IDO Firewall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demonstrates: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practical, technically grounded defense architecture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Inspired by NeurIPS-validated research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across bio, cyber, and coordination threats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across industries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Fully aligned with the DEF/ACC mission: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Defend society by accelerating the deployment of AI-safety systems as fast as AI capabilities grow.</a:t>
            </a:r>
            <a:endParaRPr i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